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" charset="1" panose="020B0604020202020204"/>
      <p:regular r:id="rId22"/>
    </p:embeddedFont>
    <p:embeddedFont>
      <p:font typeface="Arimo Bold" charset="1" panose="020B0704020202020204"/>
      <p:regular r:id="rId23"/>
    </p:embeddedFont>
    <p:embeddedFont>
      <p:font typeface="Arimo Italics" charset="1" panose="020B060402020209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2060077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0"/>
              </a:lnSpc>
            </a:pPr>
            <a:r>
              <a:rPr lang="en-US" sz="48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NEPSE Financial Report Analyzer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953350"/>
            <a:ext cx="16303523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AI-powered Financial Statement Analysis for Hydropower Companies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794074"/>
            <a:ext cx="16303523" cy="28575"/>
            <a:chOff x="0" y="0"/>
            <a:chExt cx="21738031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38100"/>
            </a:xfrm>
            <a:custGeom>
              <a:avLst/>
              <a:gdLst/>
              <a:ahLst/>
              <a:cxnLst/>
              <a:rect r="r" b="b" t="t" l="l"/>
              <a:pathLst>
                <a:path h="38100" w="217380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2586B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62052" y="8274548"/>
            <a:ext cx="4937760" cy="1365837"/>
            <a:chOff x="0" y="0"/>
            <a:chExt cx="6583680" cy="18211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1821180"/>
            </a:xfrm>
            <a:custGeom>
              <a:avLst/>
              <a:gdLst/>
              <a:ahLst/>
              <a:cxnLst/>
              <a:rect r="r" b="b" t="t" l="l"/>
              <a:pathLst>
                <a:path h="1821180" w="6583680">
                  <a:moveTo>
                    <a:pt x="0" y="171196"/>
                  </a:moveTo>
                  <a:cubicBezTo>
                    <a:pt x="0" y="76581"/>
                    <a:pt x="76581" y="0"/>
                    <a:pt x="171196" y="0"/>
                  </a:cubicBezTo>
                  <a:lnTo>
                    <a:pt x="6412484" y="0"/>
                  </a:lnTo>
                  <a:cubicBezTo>
                    <a:pt x="6506972" y="0"/>
                    <a:pt x="6583680" y="76581"/>
                    <a:pt x="6583680" y="171196"/>
                  </a:cubicBezTo>
                  <a:lnTo>
                    <a:pt x="6583680" y="1649984"/>
                  </a:lnTo>
                  <a:cubicBezTo>
                    <a:pt x="6583680" y="1744472"/>
                    <a:pt x="6507099" y="1821180"/>
                    <a:pt x="6412484" y="1821180"/>
                  </a:cubicBezTo>
                  <a:lnTo>
                    <a:pt x="171196" y="1821180"/>
                  </a:lnTo>
                  <a:cubicBezTo>
                    <a:pt x="76581" y="1821180"/>
                    <a:pt x="0" y="1744472"/>
                    <a:pt x="0" y="1649984"/>
                  </a:cubicBezTo>
                  <a:close/>
                </a:path>
              </a:pathLst>
            </a:custGeom>
            <a:solidFill>
              <a:srgbClr val="373B48">
                <a:alpha val="9019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67764" y="8515893"/>
            <a:ext cx="1809954" cy="37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Presented by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98701" y="8833642"/>
            <a:ext cx="3690597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PRAKASH MAHARA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954" y="-85954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48763"/>
            <a:ext cx="16303523" cy="74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930298"/>
            <a:ext cx="1630352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NEPSE-listed hydropower companies publish quarterly financial reports as lengthy PDF documents — but extracting meaningful insights from these reports is tedious, error-prone, and inaccessible to most investors.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30313" y="3115713"/>
            <a:ext cx="7930606" cy="4239520"/>
            <a:chOff x="0" y="0"/>
            <a:chExt cx="10574142" cy="5652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74130" cy="5652732"/>
            </a:xfrm>
            <a:custGeom>
              <a:avLst/>
              <a:gdLst/>
              <a:ahLst/>
              <a:cxnLst/>
              <a:rect r="r" b="b" t="t" l="l"/>
              <a:pathLst>
                <a:path h="5652732" w="10574130">
                  <a:moveTo>
                    <a:pt x="0" y="168978"/>
                  </a:moveTo>
                  <a:cubicBezTo>
                    <a:pt x="0" y="75643"/>
                    <a:pt x="93457" y="0"/>
                    <a:pt x="208773" y="0"/>
                  </a:cubicBezTo>
                  <a:lnTo>
                    <a:pt x="10365356" y="0"/>
                  </a:lnTo>
                  <a:cubicBezTo>
                    <a:pt x="10480673" y="0"/>
                    <a:pt x="10574130" y="75643"/>
                    <a:pt x="10574130" y="168978"/>
                  </a:cubicBezTo>
                  <a:lnTo>
                    <a:pt x="10574130" y="5483745"/>
                  </a:lnTo>
                  <a:cubicBezTo>
                    <a:pt x="10574130" y="5577081"/>
                    <a:pt x="10480673" y="5652732"/>
                    <a:pt x="10365356" y="5652732"/>
                  </a:cubicBezTo>
                  <a:lnTo>
                    <a:pt x="208773" y="5652732"/>
                  </a:lnTo>
                  <a:cubicBezTo>
                    <a:pt x="93457" y="5652732"/>
                    <a:pt x="0" y="5577081"/>
                    <a:pt x="0" y="5483745"/>
                  </a:cubicBezTo>
                  <a:close/>
                </a:path>
              </a:pathLst>
            </a:custGeom>
            <a:solidFill>
              <a:srgbClr val="373B48">
                <a:alpha val="90196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5041" y="3593011"/>
            <a:ext cx="7751864" cy="3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5041" y="4156615"/>
            <a:ext cx="7751864" cy="248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Reports span </a:t>
            </a:r>
            <a:r>
              <a:rPr lang="en-US" b="true" sz="17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multiple pages</a:t>
            </a: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— difficult to analyze manually</a:t>
            </a:r>
          </a:p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Investors spend significant time locating key financial metrics</a:t>
            </a:r>
          </a:p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Quarter-to-quarter comparison requires manual calculations</a:t>
            </a:r>
          </a:p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Cross-company sector comparison is highly inefficient</a:t>
            </a:r>
          </a:p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Retail investors lack expertise to interpret complex statements</a:t>
            </a:r>
          </a:p>
          <a:p>
            <a:pPr algn="l" marL="410210" indent="-205105" lvl="1">
              <a:lnSpc>
                <a:spcPts val="259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intelligent platform for automatic NEPSE report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7816" y="3087138"/>
            <a:ext cx="7877470" cy="37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Business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95424" y="3920881"/>
            <a:ext cx="3215878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Delayed Decisions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95424" y="4447280"/>
            <a:ext cx="321587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Investment decisions are slowed by manual report reading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35958" y="3920881"/>
            <a:ext cx="3216031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Human Error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35958" y="4447280"/>
            <a:ext cx="321603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Manual ratio calculations introduce significant error potential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95424" y="6224435"/>
            <a:ext cx="3215878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Poor Comparability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95424" y="6750844"/>
            <a:ext cx="321587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Comparing multiple companies requires enormous manual effort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35958" y="6224435"/>
            <a:ext cx="3216031" cy="389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Limited Accessibility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35958" y="6750844"/>
            <a:ext cx="321603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Non-financial users cannot interpret complex financial statements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1202"/>
            <a:ext cx="16303523" cy="60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08534"/>
            <a:ext cx="17217923" cy="30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An AI-powered Financial Report Analyzer that automatically extracts, analyzes, and visualizes financial data from NEPSE quarterly reports — transforming raw PDFs into actionable investor intelligence.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2164556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7-Step System Workflow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2918670"/>
            <a:ext cx="7929562" cy="19050"/>
            <a:chOff x="0" y="0"/>
            <a:chExt cx="10572750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3019273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Upload Quarterly Report (PDF)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3893344"/>
            <a:ext cx="7929562" cy="19050"/>
            <a:chOff x="0" y="0"/>
            <a:chExt cx="1057275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2238" y="3993947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Automatic Data Extraction via pdfplumber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4868018"/>
            <a:ext cx="7929562" cy="19050"/>
            <a:chOff x="0" y="0"/>
            <a:chExt cx="1057275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92238" y="4968631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Store Standardized Metrics in MySQL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5842692"/>
            <a:ext cx="7929562" cy="19050"/>
            <a:chOff x="0" y="0"/>
            <a:chExt cx="10572750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2238" y="5943305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Generate Interactive Dashboards &amp; Charts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6817366"/>
            <a:ext cx="7929562" cy="19050"/>
            <a:chOff x="0" y="0"/>
            <a:chExt cx="10572750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238" y="6917979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AI-Powered Executive Summary &amp; Insights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7792050"/>
            <a:ext cx="7929562" cy="19050"/>
            <a:chOff x="0" y="0"/>
            <a:chExt cx="1057275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2238" y="7892653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Company-to-Company Comparison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92238" y="8766724"/>
            <a:ext cx="7929562" cy="19050"/>
            <a:chOff x="0" y="0"/>
            <a:chExt cx="1057275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72750" cy="25400"/>
            </a:xfrm>
            <a:custGeom>
              <a:avLst/>
              <a:gdLst/>
              <a:ahLst/>
              <a:cxnLst/>
              <a:rect r="r" b="b" t="t" l="l"/>
              <a:pathLst>
                <a:path h="25400" w="10572750">
                  <a:moveTo>
                    <a:pt x="0" y="0"/>
                  </a:moveTo>
                  <a:lnTo>
                    <a:pt x="10572750" y="0"/>
                  </a:lnTo>
                  <a:lnTo>
                    <a:pt x="1057275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92238" y="8867327"/>
            <a:ext cx="792956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Download Investor-Friendly Reports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33847" y="2345903"/>
            <a:ext cx="6660591" cy="28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Key Benefits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727527" y="2928195"/>
            <a:ext cx="3907336" cy="1326204"/>
            <a:chOff x="0" y="0"/>
            <a:chExt cx="5209781" cy="17682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09794" cy="1768221"/>
            </a:xfrm>
            <a:custGeom>
              <a:avLst/>
              <a:gdLst/>
              <a:ahLst/>
              <a:cxnLst/>
              <a:rect r="r" b="b" t="t" l="l"/>
              <a:pathLst>
                <a:path h="1768221" w="5209794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5107051" y="0"/>
                  </a:lnTo>
                  <a:cubicBezTo>
                    <a:pt x="5163820" y="0"/>
                    <a:pt x="5209794" y="45974"/>
                    <a:pt x="5209794" y="102743"/>
                  </a:cubicBezTo>
                  <a:lnTo>
                    <a:pt x="5209794" y="1665478"/>
                  </a:lnTo>
                  <a:cubicBezTo>
                    <a:pt x="5209794" y="1722247"/>
                    <a:pt x="5163820" y="1768221"/>
                    <a:pt x="5107051" y="1768221"/>
                  </a:cubicBezTo>
                  <a:lnTo>
                    <a:pt x="102743" y="1768221"/>
                  </a:lnTo>
                  <a:cubicBezTo>
                    <a:pt x="45974" y="1768221"/>
                    <a:pt x="0" y="1722247"/>
                    <a:pt x="0" y="166547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1923981" y="3096073"/>
            <a:ext cx="3514430" cy="32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⏱</a:t>
            </a: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Time Savings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23981" y="3504905"/>
            <a:ext cx="3514430" cy="5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Eliminates hours of manual PDF reading and data entry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727527" y="5838225"/>
            <a:ext cx="3907488" cy="1326204"/>
            <a:chOff x="0" y="0"/>
            <a:chExt cx="5209984" cy="17682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209921" cy="1768221"/>
            </a:xfrm>
            <a:custGeom>
              <a:avLst/>
              <a:gdLst/>
              <a:ahLst/>
              <a:cxnLst/>
              <a:rect r="r" b="b" t="t" l="l"/>
              <a:pathLst>
                <a:path h="1768221" w="520992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5107178" y="0"/>
                  </a:lnTo>
                  <a:cubicBezTo>
                    <a:pt x="5163947" y="0"/>
                    <a:pt x="5209921" y="45974"/>
                    <a:pt x="5209921" y="102743"/>
                  </a:cubicBezTo>
                  <a:lnTo>
                    <a:pt x="5209921" y="1665478"/>
                  </a:lnTo>
                  <a:cubicBezTo>
                    <a:pt x="5209921" y="1722247"/>
                    <a:pt x="5163947" y="1768221"/>
                    <a:pt x="5107178" y="1768221"/>
                  </a:cubicBezTo>
                  <a:lnTo>
                    <a:pt x="102743" y="1768221"/>
                  </a:lnTo>
                  <a:cubicBezTo>
                    <a:pt x="45974" y="1768221"/>
                    <a:pt x="0" y="1722247"/>
                    <a:pt x="0" y="166547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1923981" y="6006103"/>
            <a:ext cx="3514573" cy="32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Accuracy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923981" y="6414935"/>
            <a:ext cx="3514573" cy="5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Reduces human error in ratio and metric calculations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727527" y="4378671"/>
            <a:ext cx="3907336" cy="1326204"/>
            <a:chOff x="0" y="0"/>
            <a:chExt cx="5209781" cy="17682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09794" cy="1768221"/>
            </a:xfrm>
            <a:custGeom>
              <a:avLst/>
              <a:gdLst/>
              <a:ahLst/>
              <a:cxnLst/>
              <a:rect r="r" b="b" t="t" l="l"/>
              <a:pathLst>
                <a:path h="1768221" w="5209794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5107051" y="0"/>
                  </a:lnTo>
                  <a:cubicBezTo>
                    <a:pt x="5163820" y="0"/>
                    <a:pt x="5209794" y="45974"/>
                    <a:pt x="5209794" y="102743"/>
                  </a:cubicBezTo>
                  <a:lnTo>
                    <a:pt x="5209794" y="1665478"/>
                  </a:lnTo>
                  <a:cubicBezTo>
                    <a:pt x="5209794" y="1722247"/>
                    <a:pt x="5163820" y="1768221"/>
                    <a:pt x="5107051" y="1768221"/>
                  </a:cubicBezTo>
                  <a:lnTo>
                    <a:pt x="102743" y="1768221"/>
                  </a:lnTo>
                  <a:cubicBezTo>
                    <a:pt x="45974" y="1768221"/>
                    <a:pt x="0" y="1722247"/>
                    <a:pt x="0" y="166547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1923981" y="4546549"/>
            <a:ext cx="3514430" cy="32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💡</a:t>
            </a: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Accessibility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23981" y="4955381"/>
            <a:ext cx="3514430" cy="5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Easy-to-understand insights for non-financial users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727527" y="7288701"/>
            <a:ext cx="3907488" cy="1326204"/>
            <a:chOff x="0" y="0"/>
            <a:chExt cx="5209984" cy="17682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09921" cy="1768221"/>
            </a:xfrm>
            <a:custGeom>
              <a:avLst/>
              <a:gdLst/>
              <a:ahLst/>
              <a:cxnLst/>
              <a:rect r="r" b="b" t="t" l="l"/>
              <a:pathLst>
                <a:path h="1768221" w="5209921">
                  <a:moveTo>
                    <a:pt x="0" y="102743"/>
                  </a:moveTo>
                  <a:cubicBezTo>
                    <a:pt x="0" y="45974"/>
                    <a:pt x="45974" y="0"/>
                    <a:pt x="102743" y="0"/>
                  </a:cubicBezTo>
                  <a:lnTo>
                    <a:pt x="5107178" y="0"/>
                  </a:lnTo>
                  <a:cubicBezTo>
                    <a:pt x="5163947" y="0"/>
                    <a:pt x="5209921" y="45974"/>
                    <a:pt x="5209921" y="102743"/>
                  </a:cubicBezTo>
                  <a:lnTo>
                    <a:pt x="5209921" y="1665478"/>
                  </a:lnTo>
                  <a:cubicBezTo>
                    <a:pt x="5209921" y="1722247"/>
                    <a:pt x="5163947" y="1768221"/>
                    <a:pt x="5107178" y="1768221"/>
                  </a:cubicBezTo>
                  <a:lnTo>
                    <a:pt x="102743" y="1768221"/>
                  </a:lnTo>
                  <a:cubicBezTo>
                    <a:pt x="45974" y="1768221"/>
                    <a:pt x="0" y="1722247"/>
                    <a:pt x="0" y="166547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1923981" y="7456580"/>
            <a:ext cx="3514573" cy="32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📈</a:t>
            </a: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Better Decisions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923981" y="7865412"/>
            <a:ext cx="3514573" cy="553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Supports data-driven investment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36472" y="1195909"/>
            <a:ext cx="15015057" cy="8445969"/>
          </a:xfrm>
          <a:custGeom>
            <a:avLst/>
            <a:gdLst/>
            <a:ahLst/>
            <a:cxnLst/>
            <a:rect r="r" b="b" t="t" l="l"/>
            <a:pathLst>
              <a:path h="8445969" w="15015057">
                <a:moveTo>
                  <a:pt x="0" y="0"/>
                </a:moveTo>
                <a:lnTo>
                  <a:pt x="15015056" y="0"/>
                </a:lnTo>
                <a:lnTo>
                  <a:pt x="15015056" y="8445970"/>
                </a:lnTo>
                <a:lnTo>
                  <a:pt x="0" y="8445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37277" y="285217"/>
            <a:ext cx="5681771" cy="743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600" b="true">
                <a:solidFill>
                  <a:srgbClr val="373B48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4901" y="408990"/>
            <a:ext cx="16356759" cy="9469020"/>
          </a:xfrm>
          <a:custGeom>
            <a:avLst/>
            <a:gdLst/>
            <a:ahLst/>
            <a:cxnLst/>
            <a:rect r="r" b="b" t="t" l="l"/>
            <a:pathLst>
              <a:path h="9469020" w="16356759">
                <a:moveTo>
                  <a:pt x="0" y="0"/>
                </a:moveTo>
                <a:lnTo>
                  <a:pt x="16356759" y="0"/>
                </a:lnTo>
                <a:lnTo>
                  <a:pt x="16356759" y="9469020"/>
                </a:lnTo>
                <a:lnTo>
                  <a:pt x="0" y="9469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53538"/>
            <a:ext cx="16303523" cy="81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77053"/>
            <a:ext cx="17217923" cy="48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Five core capabilities transform raw NEPSE PDF reports into a fully interactive financial intelligence platform.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25761"/>
            <a:ext cx="5227739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Report Upload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195610"/>
            <a:ext cx="5227739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Upload hydropower company quarterly financial reports in PDF format. The system accepts NFRS-compliant documents and queues them for automated processing.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29978" y="3725761"/>
            <a:ext cx="522788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Automated Extraction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9978" y="4195610"/>
            <a:ext cx="5227882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pdfplumber parses and extracts NFRS financial metrics — revenue, net profit, assets, equity, EPS, and more — with a standardized metric mapping engine.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7880" y="3725761"/>
            <a:ext cx="522788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Interactive Dashboard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67880" y="4195610"/>
            <a:ext cx="5227882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Visualizes Revenue, Net Profit, Total Assets, and Equity through dynamic Chart.js charts. Supports quarter-over-quarter trend analysis at a glance.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152084"/>
            <a:ext cx="5227739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AI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7621934"/>
            <a:ext cx="5227739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LLM-generated executive summaries, trend explanations, and risk identification — translating complex financial data into plain-language investor narratives.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9978" y="7152084"/>
            <a:ext cx="5227882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Company Comparison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9978" y="7621934"/>
            <a:ext cx="5227882" cy="167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Side-by-side financial performance comparison between two NEPSE hydropower companies, with AI-generated comparative analysis highlighting key differences.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55291"/>
            <a:ext cx="16303523" cy="70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Competitor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68809"/>
            <a:ext cx="16303523" cy="69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Unlike traditional tools that only display numbers, our platform extracts, analyzes, visualizes, </a:t>
            </a:r>
            <a:r>
              <a:rPr lang="en-US" sz="1600" i="true">
                <a:solidFill>
                  <a:srgbClr val="52586B"/>
                </a:solidFill>
                <a:latin typeface="Arimo Italics"/>
                <a:ea typeface="Arimo Italics"/>
                <a:cs typeface="Arimo Italics"/>
                <a:sym typeface="Arimo Italics"/>
              </a:rPr>
              <a:t>and explains</a:t>
            </a: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financial performance using AI — delivering capabilities unavailable in any existing workflow.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561482"/>
            <a:ext cx="16313048" cy="5741937"/>
            <a:chOff x="0" y="0"/>
            <a:chExt cx="21750731" cy="76559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0782" cy="7656068"/>
            </a:xfrm>
            <a:custGeom>
              <a:avLst/>
              <a:gdLst/>
              <a:ahLst/>
              <a:cxnLst/>
              <a:rect r="r" b="b" t="t" l="l"/>
              <a:pathLst>
                <a:path h="7656068" w="21750782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21631148" y="0"/>
                  </a:lnTo>
                  <a:cubicBezTo>
                    <a:pt x="21697187" y="0"/>
                    <a:pt x="21750782" y="53594"/>
                    <a:pt x="21750782" y="119634"/>
                  </a:cubicBezTo>
                  <a:lnTo>
                    <a:pt x="21750782" y="7536434"/>
                  </a:lnTo>
                  <a:cubicBezTo>
                    <a:pt x="21750782" y="7602474"/>
                    <a:pt x="21697187" y="7656068"/>
                    <a:pt x="21631148" y="7656068"/>
                  </a:cubicBezTo>
                  <a:lnTo>
                    <a:pt x="119634" y="7656068"/>
                  </a:lnTo>
                  <a:cubicBezTo>
                    <a:pt x="53594" y="7656068"/>
                    <a:pt x="0" y="7602474"/>
                    <a:pt x="0" y="753643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7" r="0" b="-5355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136402"/>
            <a:ext cx="16303523" cy="13325"/>
            <a:chOff x="0" y="0"/>
            <a:chExt cx="21738031" cy="17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2238" y="3701806"/>
            <a:ext cx="16303523" cy="13325"/>
            <a:chOff x="0" y="0"/>
            <a:chExt cx="21738031" cy="17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92238" y="4584354"/>
            <a:ext cx="16303523" cy="13325"/>
            <a:chOff x="0" y="0"/>
            <a:chExt cx="21738031" cy="177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238" y="5149748"/>
            <a:ext cx="16303523" cy="13325"/>
            <a:chOff x="0" y="0"/>
            <a:chExt cx="21738031" cy="177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2238" y="6032306"/>
            <a:ext cx="16303523" cy="13325"/>
            <a:chOff x="0" y="0"/>
            <a:chExt cx="21738031" cy="177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2238" y="6597701"/>
            <a:ext cx="16303523" cy="13325"/>
            <a:chOff x="0" y="0"/>
            <a:chExt cx="21738031" cy="177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92238" y="7163095"/>
            <a:ext cx="16303523" cy="13325"/>
            <a:chOff x="0" y="0"/>
            <a:chExt cx="21738031" cy="177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2238" y="7728499"/>
            <a:ext cx="16303523" cy="13325"/>
            <a:chOff x="0" y="0"/>
            <a:chExt cx="21738031" cy="177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38082" cy="17780"/>
            </a:xfrm>
            <a:custGeom>
              <a:avLst/>
              <a:gdLst/>
              <a:ahLst/>
              <a:cxnLst/>
              <a:rect r="r" b="b" t="t" l="l"/>
              <a:pathLst>
                <a:path h="17780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17780"/>
                  </a:lnTo>
                  <a:lnTo>
                    <a:pt x="0" y="17780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259018" y="2566245"/>
            <a:ext cx="13325" cy="5732412"/>
            <a:chOff x="0" y="0"/>
            <a:chExt cx="17767" cy="76432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80" cy="7643241"/>
            </a:xfrm>
            <a:custGeom>
              <a:avLst/>
              <a:gdLst/>
              <a:ahLst/>
              <a:cxnLst/>
              <a:rect r="r" b="b" t="t" l="l"/>
              <a:pathLst>
                <a:path h="7643241" w="17780">
                  <a:moveTo>
                    <a:pt x="0" y="0"/>
                  </a:moveTo>
                  <a:lnTo>
                    <a:pt x="17780" y="0"/>
                  </a:lnTo>
                  <a:lnTo>
                    <a:pt x="17780" y="7643241"/>
                  </a:lnTo>
                  <a:lnTo>
                    <a:pt x="0" y="764324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515816" y="2566245"/>
            <a:ext cx="13325" cy="5732412"/>
            <a:chOff x="0" y="0"/>
            <a:chExt cx="17767" cy="76432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80" cy="7643241"/>
            </a:xfrm>
            <a:custGeom>
              <a:avLst/>
              <a:gdLst/>
              <a:ahLst/>
              <a:cxnLst/>
              <a:rect r="r" b="b" t="t" l="l"/>
              <a:pathLst>
                <a:path h="7643241" w="17780">
                  <a:moveTo>
                    <a:pt x="0" y="0"/>
                  </a:moveTo>
                  <a:lnTo>
                    <a:pt x="17780" y="0"/>
                  </a:lnTo>
                  <a:lnTo>
                    <a:pt x="17780" y="7643241"/>
                  </a:lnTo>
                  <a:lnTo>
                    <a:pt x="0" y="764324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772623" y="2566245"/>
            <a:ext cx="13325" cy="5732412"/>
            <a:chOff x="0" y="0"/>
            <a:chExt cx="17767" cy="76432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780" cy="7643241"/>
            </a:xfrm>
            <a:custGeom>
              <a:avLst/>
              <a:gdLst/>
              <a:ahLst/>
              <a:cxnLst/>
              <a:rect r="r" b="b" t="t" l="l"/>
              <a:pathLst>
                <a:path h="7643241" w="17780">
                  <a:moveTo>
                    <a:pt x="0" y="0"/>
                  </a:moveTo>
                  <a:lnTo>
                    <a:pt x="17780" y="0"/>
                  </a:lnTo>
                  <a:lnTo>
                    <a:pt x="17780" y="7643241"/>
                  </a:lnTo>
                  <a:lnTo>
                    <a:pt x="0" y="764324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029430" y="2566245"/>
            <a:ext cx="13325" cy="5732412"/>
            <a:chOff x="0" y="0"/>
            <a:chExt cx="17767" cy="7643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780" cy="7643241"/>
            </a:xfrm>
            <a:custGeom>
              <a:avLst/>
              <a:gdLst/>
              <a:ahLst/>
              <a:cxnLst/>
              <a:rect r="r" b="b" t="t" l="l"/>
              <a:pathLst>
                <a:path h="7643241" w="17780">
                  <a:moveTo>
                    <a:pt x="0" y="0"/>
                  </a:moveTo>
                  <a:lnTo>
                    <a:pt x="17780" y="0"/>
                  </a:lnTo>
                  <a:lnTo>
                    <a:pt x="17780" y="7643241"/>
                  </a:lnTo>
                  <a:lnTo>
                    <a:pt x="0" y="7643241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2211" y="2575770"/>
            <a:ext cx="3256807" cy="560632"/>
            <a:chOff x="0" y="0"/>
            <a:chExt cx="4342409" cy="7475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42384" cy="747522"/>
            </a:xfrm>
            <a:custGeom>
              <a:avLst/>
              <a:gdLst/>
              <a:ahLst/>
              <a:cxnLst/>
              <a:rect r="r" b="b" t="t" l="l"/>
              <a:pathLst>
                <a:path h="747522" w="4342384">
                  <a:moveTo>
                    <a:pt x="0" y="0"/>
                  </a:moveTo>
                  <a:lnTo>
                    <a:pt x="4342384" y="0"/>
                  </a:lnTo>
                  <a:lnTo>
                    <a:pt x="4342384" y="747522"/>
                  </a:lnTo>
                  <a:lnTo>
                    <a:pt x="0" y="747522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15333" y="2637977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Feature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4259018" y="2575770"/>
            <a:ext cx="3256807" cy="560632"/>
            <a:chOff x="0" y="0"/>
            <a:chExt cx="4342409" cy="7475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42384" cy="747522"/>
            </a:xfrm>
            <a:custGeom>
              <a:avLst/>
              <a:gdLst/>
              <a:ahLst/>
              <a:cxnLst/>
              <a:rect r="r" b="b" t="t" l="l"/>
              <a:pathLst>
                <a:path h="747522" w="4342384">
                  <a:moveTo>
                    <a:pt x="0" y="0"/>
                  </a:moveTo>
                  <a:lnTo>
                    <a:pt x="4342384" y="0"/>
                  </a:lnTo>
                  <a:lnTo>
                    <a:pt x="4342384" y="747522"/>
                  </a:lnTo>
                  <a:lnTo>
                    <a:pt x="0" y="747522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4476902" y="26379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Manual Analysis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515816" y="2575770"/>
            <a:ext cx="3256807" cy="560632"/>
            <a:chOff x="0" y="0"/>
            <a:chExt cx="4342409" cy="74750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42384" cy="747522"/>
            </a:xfrm>
            <a:custGeom>
              <a:avLst/>
              <a:gdLst/>
              <a:ahLst/>
              <a:cxnLst/>
              <a:rect r="r" b="b" t="t" l="l"/>
              <a:pathLst>
                <a:path h="747522" w="4342384">
                  <a:moveTo>
                    <a:pt x="0" y="0"/>
                  </a:moveTo>
                  <a:lnTo>
                    <a:pt x="4342384" y="0"/>
                  </a:lnTo>
                  <a:lnTo>
                    <a:pt x="4342384" y="747522"/>
                  </a:lnTo>
                  <a:lnTo>
                    <a:pt x="0" y="747522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7733700" y="26379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Excel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772623" y="2575770"/>
            <a:ext cx="3256807" cy="560632"/>
            <a:chOff x="0" y="0"/>
            <a:chExt cx="4342409" cy="74750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42384" cy="747522"/>
            </a:xfrm>
            <a:custGeom>
              <a:avLst/>
              <a:gdLst/>
              <a:ahLst/>
              <a:cxnLst/>
              <a:rect r="r" b="b" t="t" l="l"/>
              <a:pathLst>
                <a:path h="747522" w="4342384">
                  <a:moveTo>
                    <a:pt x="0" y="0"/>
                  </a:moveTo>
                  <a:lnTo>
                    <a:pt x="4342384" y="0"/>
                  </a:lnTo>
                  <a:lnTo>
                    <a:pt x="4342384" y="747522"/>
                  </a:lnTo>
                  <a:lnTo>
                    <a:pt x="0" y="747522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990507" y="26379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PDF Reader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029430" y="2575770"/>
            <a:ext cx="3256807" cy="560632"/>
            <a:chOff x="0" y="0"/>
            <a:chExt cx="4342409" cy="74750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42384" cy="747522"/>
            </a:xfrm>
            <a:custGeom>
              <a:avLst/>
              <a:gdLst/>
              <a:ahLst/>
              <a:cxnLst/>
              <a:rect r="r" b="b" t="t" l="l"/>
              <a:pathLst>
                <a:path h="747522" w="4342384">
                  <a:moveTo>
                    <a:pt x="0" y="0"/>
                  </a:moveTo>
                  <a:lnTo>
                    <a:pt x="4342384" y="0"/>
                  </a:lnTo>
                  <a:lnTo>
                    <a:pt x="4342384" y="747522"/>
                  </a:lnTo>
                  <a:lnTo>
                    <a:pt x="0" y="747522"/>
                  </a:lnTo>
                  <a:close/>
                </a:path>
              </a:pathLst>
            </a:custGeom>
            <a:solidFill>
              <a:srgbClr val="373B48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4247314" y="2637977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Our System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5333" y="3203372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PDF Data Extraction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76902" y="3203372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733700" y="3203372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990507" y="3203372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247314" y="3203372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5333" y="3768776"/>
            <a:ext cx="2825801" cy="69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Structured Financial Database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76902" y="376877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733700" y="376877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Partial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90507" y="376877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247314" y="3768776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15333" y="4651324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Interactive Dashboard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476902" y="4651324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733700" y="4651324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Limited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990507" y="4651324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247314" y="4651324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5333" y="5216728"/>
            <a:ext cx="2825801" cy="69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Quarter-over-Quarter Comparison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476902" y="5216728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Manual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733700" y="5216728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Manual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990507" y="5216728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247314" y="5216728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15333" y="6099277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Company Comparison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476902" y="60992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Manual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7733700" y="60992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Manual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990507" y="6099277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247314" y="6099277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15333" y="6664671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AI Executive Summary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476902" y="6664671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7733700" y="6664671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990507" y="6664671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247314" y="6664671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15333" y="7230066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Financial Trend Charts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476902" y="723006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733700" y="723006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Basic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0990507" y="7230066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4247314" y="7230066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15333" y="7795470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Investor-Friendly Insights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476902" y="7795470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733700" y="7795470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0990507" y="7795470"/>
            <a:ext cx="3735438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❌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247314" y="7795470"/>
            <a:ext cx="3740201" cy="37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92238" y="8504634"/>
            <a:ext cx="16303523" cy="1088822"/>
            <a:chOff x="0" y="0"/>
            <a:chExt cx="21738031" cy="145176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738082" cy="1451737"/>
            </a:xfrm>
            <a:custGeom>
              <a:avLst/>
              <a:gdLst/>
              <a:ahLst/>
              <a:cxnLst/>
              <a:rect r="r" b="b" t="t" l="l"/>
              <a:pathLst>
                <a:path h="1451737" w="21738082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lnTo>
                    <a:pt x="21618702" y="0"/>
                  </a:lnTo>
                  <a:cubicBezTo>
                    <a:pt x="21684614" y="0"/>
                    <a:pt x="21738082" y="53467"/>
                    <a:pt x="21738082" y="119380"/>
                  </a:cubicBezTo>
                  <a:lnTo>
                    <a:pt x="21738082" y="1332357"/>
                  </a:lnTo>
                  <a:cubicBezTo>
                    <a:pt x="21738082" y="1398270"/>
                    <a:pt x="21684614" y="1451737"/>
                    <a:pt x="21618702" y="1451737"/>
                  </a:cubicBezTo>
                  <a:lnTo>
                    <a:pt x="119380" y="1451737"/>
                  </a:lnTo>
                  <a:cubicBezTo>
                    <a:pt x="53467" y="1451737"/>
                    <a:pt x="0" y="1398270"/>
                    <a:pt x="0" y="1332357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05360" y="8803634"/>
            <a:ext cx="266405" cy="213122"/>
            <a:chOff x="0" y="0"/>
            <a:chExt cx="355206" cy="284162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355219" cy="284226"/>
            </a:xfrm>
            <a:custGeom>
              <a:avLst/>
              <a:gdLst/>
              <a:ahLst/>
              <a:cxnLst/>
              <a:rect r="r" b="b" t="t" l="l"/>
              <a:pathLst>
                <a:path h="284226" w="355219">
                  <a:moveTo>
                    <a:pt x="0" y="0"/>
                  </a:moveTo>
                  <a:lnTo>
                    <a:pt x="355219" y="0"/>
                  </a:lnTo>
                  <a:lnTo>
                    <a:pt x="355219" y="284226"/>
                  </a:lnTo>
                  <a:lnTo>
                    <a:pt x="0" y="2842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40" r="3" b="-1313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684887" y="8683971"/>
            <a:ext cx="15397763" cy="69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Competitive Advantage:</a:t>
            </a:r>
            <a:r>
              <a:rPr lang="en-US" sz="1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Our system is the only solution that delivers all eight capabilities in a single integrated platform — purpose-built for NEPSE hydropower financial analysis.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30453"/>
            <a:ext cx="16303523" cy="64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Unique Selling Proposition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401070"/>
            <a:ext cx="16303523" cy="325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Not just a dashboard — an AI financial assistant.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16459" y="2124675"/>
            <a:ext cx="15170344" cy="33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🤖</a:t>
            </a: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AI-Powered Financial Interpretation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6459" y="2498969"/>
            <a:ext cx="15170344" cy="31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Generates easy-to-understand summaries using LLM — not just raw numbers. Translates complex NFRS statements into plain investor language.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6459" y="3409655"/>
            <a:ext cx="15170344" cy="33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📊</a:t>
            </a: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Automated Dashboard Generation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6459" y="3783959"/>
            <a:ext cx="15170344" cy="31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Transforms raw financial statements into interactive Chart.js visualizations instantly — zero manual chart-building required.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16459" y="4694634"/>
            <a:ext cx="15170344" cy="33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📈</a:t>
            </a: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Automatic Quarter Comparison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16459" y="5068938"/>
            <a:ext cx="15170344" cy="31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Calculates growth trends, percentage changes, and performance deltas across quarters without any manual effort from the user.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6459" y="5979614"/>
            <a:ext cx="15170344" cy="33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⚖</a:t>
            </a: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Company-to-Company Comparison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16459" y="6353918"/>
            <a:ext cx="15170344" cy="31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Side-by-side financial performance across NEPSE hydropower companies, with AI-generated comparative analysis highlighting key differentiators.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6459" y="7325325"/>
            <a:ext cx="15170344" cy="2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👨‍💼</a:t>
            </a: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 Investor-Friendly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6459" y="7639345"/>
            <a:ext cx="15170344" cy="315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399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Simplifies complex financial reports into actionable insights accessible to retail investors without accounting expertise.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53653"/>
            <a:ext cx="16303523" cy="416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SWOT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174852"/>
            <a:ext cx="17217923" cy="16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 structured assessment of the platform's internal capabilities and external market dynamics.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54233" y="1458001"/>
            <a:ext cx="13186953" cy="7092277"/>
            <a:chOff x="0" y="0"/>
            <a:chExt cx="17582604" cy="945636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7582642" cy="9456420"/>
            </a:xfrm>
            <a:custGeom>
              <a:avLst/>
              <a:gdLst/>
              <a:ahLst/>
              <a:cxnLst/>
              <a:rect r="r" b="b" t="t" l="l"/>
              <a:pathLst>
                <a:path h="9456420" w="17582642">
                  <a:moveTo>
                    <a:pt x="0" y="0"/>
                  </a:moveTo>
                  <a:lnTo>
                    <a:pt x="17582642" y="0"/>
                  </a:lnTo>
                  <a:lnTo>
                    <a:pt x="17582642" y="9456420"/>
                  </a:lnTo>
                  <a:lnTo>
                    <a:pt x="0" y="9456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196" t="-6459" r="-3901" b="-555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9805" y="8616182"/>
            <a:ext cx="5232206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Key Strength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9805" y="8888520"/>
            <a:ext cx="5232206" cy="31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Automated end-to-end pipeline from PDF ingestion to AI-generated narrative — no comparable tool exists in the NEPSE ecosystem.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6379" y="8615705"/>
            <a:ext cx="5232206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Primary Risk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36379" y="8888520"/>
            <a:ext cx="5232206" cy="31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PDF layout inconsistency across companies may affect extraction accuracy — mitigated by a robust metric mapping engine.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05500" y="8622944"/>
            <a:ext cx="5232206" cy="21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7"/>
              </a:lnSpc>
            </a:pPr>
            <a:r>
              <a:rPr lang="en-US" sz="12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Biggest Opportunity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05500" y="8816711"/>
            <a:ext cx="5232206" cy="31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Expanding the standardized metric framework to cover all NEPSE sectors represents a significant addressable market.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6338592"/>
            <a:ext cx="3899449" cy="1854841"/>
            <a:chOff x="0" y="0"/>
            <a:chExt cx="5199266" cy="24731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9380" cy="2473198"/>
            </a:xfrm>
            <a:custGeom>
              <a:avLst/>
              <a:gdLst/>
              <a:ahLst/>
              <a:cxnLst/>
              <a:rect r="r" b="b" t="t" l="l"/>
              <a:pathLst>
                <a:path h="2473198" w="519938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059680" y="0"/>
                  </a:lnTo>
                  <a:cubicBezTo>
                    <a:pt x="5136769" y="0"/>
                    <a:pt x="5199380" y="62484"/>
                    <a:pt x="5199380" y="139700"/>
                  </a:cubicBezTo>
                  <a:lnTo>
                    <a:pt x="5199380" y="2333498"/>
                  </a:lnTo>
                  <a:cubicBezTo>
                    <a:pt x="5199380" y="2410587"/>
                    <a:pt x="5136896" y="2473198"/>
                    <a:pt x="505968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49709" y="6581775"/>
            <a:ext cx="3374974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Extract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9709" y="7051624"/>
            <a:ext cx="337497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Automated PDF parsing of NEPSE quarterly reports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125345" y="6338592"/>
            <a:ext cx="3899449" cy="1854841"/>
            <a:chOff x="0" y="0"/>
            <a:chExt cx="5199266" cy="24731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99380" cy="2473198"/>
            </a:xfrm>
            <a:custGeom>
              <a:avLst/>
              <a:gdLst/>
              <a:ahLst/>
              <a:cxnLst/>
              <a:rect r="r" b="b" t="t" l="l"/>
              <a:pathLst>
                <a:path h="2473198" w="519938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059680" y="0"/>
                  </a:lnTo>
                  <a:cubicBezTo>
                    <a:pt x="5136769" y="0"/>
                    <a:pt x="5199380" y="62484"/>
                    <a:pt x="5199380" y="139700"/>
                  </a:cubicBezTo>
                  <a:lnTo>
                    <a:pt x="5199380" y="2333498"/>
                  </a:lnTo>
                  <a:cubicBezTo>
                    <a:pt x="5199380" y="2410587"/>
                    <a:pt x="5136896" y="2473198"/>
                    <a:pt x="505968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387578" y="6581775"/>
            <a:ext cx="3374974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Analyze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7578" y="7051624"/>
            <a:ext cx="337497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Structured financial metrics &amp; ratio computation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63215" y="6338592"/>
            <a:ext cx="3899449" cy="1854841"/>
            <a:chOff x="0" y="0"/>
            <a:chExt cx="5199266" cy="24731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99380" cy="2473198"/>
            </a:xfrm>
            <a:custGeom>
              <a:avLst/>
              <a:gdLst/>
              <a:ahLst/>
              <a:cxnLst/>
              <a:rect r="r" b="b" t="t" l="l"/>
              <a:pathLst>
                <a:path h="2473198" w="519938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059680" y="0"/>
                  </a:lnTo>
                  <a:cubicBezTo>
                    <a:pt x="5136769" y="0"/>
                    <a:pt x="5199380" y="62484"/>
                    <a:pt x="5199380" y="139700"/>
                  </a:cubicBezTo>
                  <a:lnTo>
                    <a:pt x="5199380" y="2333498"/>
                  </a:lnTo>
                  <a:cubicBezTo>
                    <a:pt x="5199380" y="2410587"/>
                    <a:pt x="5136896" y="2473198"/>
                    <a:pt x="505968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525448" y="6581775"/>
            <a:ext cx="3374974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Visualize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448" y="7051624"/>
            <a:ext cx="337497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Interactive dashboards &amp; trend charts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01075" y="6338592"/>
            <a:ext cx="3899449" cy="1854841"/>
            <a:chOff x="0" y="0"/>
            <a:chExt cx="5199266" cy="24731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99380" cy="2473198"/>
            </a:xfrm>
            <a:custGeom>
              <a:avLst/>
              <a:gdLst/>
              <a:ahLst/>
              <a:cxnLst/>
              <a:rect r="r" b="b" t="t" l="l"/>
              <a:pathLst>
                <a:path h="2473198" w="5199380">
                  <a:moveTo>
                    <a:pt x="0" y="139700"/>
                  </a:moveTo>
                  <a:cubicBezTo>
                    <a:pt x="0" y="62484"/>
                    <a:pt x="62484" y="0"/>
                    <a:pt x="139700" y="0"/>
                  </a:cubicBezTo>
                  <a:lnTo>
                    <a:pt x="5059680" y="0"/>
                  </a:lnTo>
                  <a:cubicBezTo>
                    <a:pt x="5136769" y="0"/>
                    <a:pt x="5199380" y="62484"/>
                    <a:pt x="5199380" y="139700"/>
                  </a:cubicBezTo>
                  <a:lnTo>
                    <a:pt x="5199380" y="2333498"/>
                  </a:lnTo>
                  <a:cubicBezTo>
                    <a:pt x="5199380" y="2410587"/>
                    <a:pt x="5136896" y="2473198"/>
                    <a:pt x="5059680" y="2473198"/>
                  </a:cubicBezTo>
                  <a:lnTo>
                    <a:pt x="139700" y="2473198"/>
                  </a:lnTo>
                  <a:cubicBezTo>
                    <a:pt x="62611" y="2473198"/>
                    <a:pt x="0" y="2410714"/>
                    <a:pt x="0" y="2333498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663317" y="6581775"/>
            <a:ext cx="3374974" cy="40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Interpret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63317" y="7051624"/>
            <a:ext cx="3374974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2"/>
              </a:lnSpc>
            </a:pPr>
            <a:r>
              <a:rPr lang="en-US" sz="19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AI-generated executive summaries &amp; insights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19585"/>
            <a:ext cx="16303523" cy="7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Applications &amp; Use Cases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827314"/>
            <a:ext cx="17217923" cy="42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The platform serves a broad spectrum of stakeholders across the NEPSE investment ecosystem — from retail investors to corporate management teams.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492273"/>
            <a:ext cx="853078" cy="853078"/>
            <a:chOff x="0" y="0"/>
            <a:chExt cx="1137437" cy="11374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08749" y="2463698"/>
            <a:ext cx="2761802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Retail Investors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8749" y="2899915"/>
            <a:ext cx="2761802" cy="288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Analyze company performance and understand quarterly reports without accounting expertise. Track growth trends and make informed buy/sell decisions.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33975" y="2492273"/>
            <a:ext cx="853078" cy="853078"/>
            <a:chOff x="0" y="0"/>
            <a:chExt cx="1137437" cy="1137437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50486" y="2463698"/>
            <a:ext cx="2761802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Traders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50486" y="2899915"/>
            <a:ext cx="2761802" cy="25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Monitor quarterly financial performance, identify improving or declining companies, and compare competitors to time market entries more effectively.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75712" y="2492273"/>
            <a:ext cx="853078" cy="853078"/>
            <a:chOff x="0" y="0"/>
            <a:chExt cx="1137437" cy="113743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392223" y="2463698"/>
            <a:ext cx="2761802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Financial Analysts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92223" y="2899915"/>
            <a:ext cx="2761802" cy="25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Reduce manual report analysis time, generate standardized comparison reports, and focus analytical effort on interpretation rather than data gathering.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17448" y="2492273"/>
            <a:ext cx="853078" cy="853078"/>
            <a:chOff x="0" y="0"/>
            <a:chExt cx="1137437" cy="1137437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533959" y="2463698"/>
            <a:ext cx="2761802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Brokerage &amp; Investment Firms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33959" y="3257255"/>
            <a:ext cx="2761802" cy="25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Screen companies efficiently, support investment research workflows, and accelerate client reporting with automated financial summaries.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6216844"/>
            <a:ext cx="853078" cy="853078"/>
            <a:chOff x="0" y="0"/>
            <a:chExt cx="1137437" cy="1137437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2" b="-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108749" y="6188269"/>
            <a:ext cx="2761802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Students &amp; Researchers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8749" y="6981825"/>
            <a:ext cx="2761802" cy="253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Study NEPSE company performance over time, analyze historical financial trends, and conduct academic research on hydropower sector economics.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33975" y="6216844"/>
            <a:ext cx="853078" cy="853078"/>
            <a:chOff x="0" y="0"/>
            <a:chExt cx="1137437" cy="1137437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137412" cy="1137412"/>
            </a:xfrm>
            <a:custGeom>
              <a:avLst/>
              <a:gdLst/>
              <a:ahLst/>
              <a:cxnLst/>
              <a:rect r="r" b="b" t="t" l="l"/>
              <a:pathLst>
                <a:path h="1137412" w="1137412">
                  <a:moveTo>
                    <a:pt x="0" y="0"/>
                  </a:moveTo>
                  <a:lnTo>
                    <a:pt x="1137412" y="0"/>
                  </a:lnTo>
                  <a:lnTo>
                    <a:pt x="1137412" y="1137412"/>
                  </a:lnTo>
                  <a:lnTo>
                    <a:pt x="0" y="1137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" b="-2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250486" y="6188269"/>
            <a:ext cx="2761802" cy="74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Corporate Management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50486" y="6981825"/>
            <a:ext cx="2761802" cy="218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Benchmark financial performance against sector competitors, monitor company financial health, and evaluate long-term growth trajectories.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49186"/>
            <a:ext cx="16303523" cy="692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Implementation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27880"/>
            <a:ext cx="17217923" cy="37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sz="17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The project follows a phased development roadmap — core extraction and visualization capabilities are fully implemented, with AI insight generation as the active next phase.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29712" y="2884808"/>
            <a:ext cx="28575" cy="5036639"/>
            <a:chOff x="0" y="0"/>
            <a:chExt cx="38100" cy="67155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6715506"/>
            </a:xfrm>
            <a:custGeom>
              <a:avLst/>
              <a:gdLst/>
              <a:ahLst/>
              <a:cxnLst/>
              <a:rect r="r" b="b" t="t" l="l"/>
              <a:pathLst>
                <a:path h="671550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6696456"/>
                  </a:lnTo>
                  <a:cubicBezTo>
                    <a:pt x="38100" y="6706998"/>
                    <a:pt x="29591" y="6715506"/>
                    <a:pt x="19050" y="6715506"/>
                  </a:cubicBezTo>
                  <a:cubicBezTo>
                    <a:pt x="8509" y="6715506"/>
                    <a:pt x="0" y="6706998"/>
                    <a:pt x="0" y="6696456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09219" y="3105969"/>
            <a:ext cx="627907" cy="28575"/>
            <a:chOff x="0" y="0"/>
            <a:chExt cx="837209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7184" cy="38100"/>
            </a:xfrm>
            <a:custGeom>
              <a:avLst/>
              <a:gdLst/>
              <a:ahLst/>
              <a:cxnLst/>
              <a:rect r="r" b="b" t="t" l="l"/>
              <a:pathLst>
                <a:path h="38100" w="83718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8134" y="0"/>
                  </a:lnTo>
                  <a:cubicBezTo>
                    <a:pt x="828675" y="0"/>
                    <a:pt x="837184" y="8509"/>
                    <a:pt x="837184" y="19050"/>
                  </a:cubicBezTo>
                  <a:cubicBezTo>
                    <a:pt x="837184" y="29591"/>
                    <a:pt x="828675" y="38100"/>
                    <a:pt x="8181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03789" y="2880046"/>
            <a:ext cx="480422" cy="480422"/>
            <a:chOff x="0" y="0"/>
            <a:chExt cx="640563" cy="6405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520954" y="0"/>
                  </a:lnTo>
                  <a:cubicBezTo>
                    <a:pt x="586994" y="0"/>
                    <a:pt x="640588" y="53594"/>
                    <a:pt x="640588" y="119634"/>
                  </a:cubicBezTo>
                  <a:lnTo>
                    <a:pt x="640588" y="520954"/>
                  </a:lnTo>
                  <a:cubicBezTo>
                    <a:pt x="640588" y="586994"/>
                    <a:pt x="586994" y="640588"/>
                    <a:pt x="520954" y="640588"/>
                  </a:cubicBezTo>
                  <a:lnTo>
                    <a:pt x="119634" y="640588"/>
                  </a:lnTo>
                  <a:cubicBezTo>
                    <a:pt x="53594" y="640588"/>
                    <a:pt x="0" y="586994"/>
                    <a:pt x="0" y="520954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987057" y="2924032"/>
            <a:ext cx="313877" cy="392459"/>
            <a:chOff x="0" y="0"/>
            <a:chExt cx="418503" cy="5232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418503" cy="542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2586B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238" y="2928118"/>
            <a:ext cx="710520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Phase 1 — Complete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238" y="3322968"/>
            <a:ext cx="7105202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PDF upload module, pdfplumber extraction engine, MySQL schema design, and metric standardization framework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50873" y="4296451"/>
            <a:ext cx="627907" cy="28575"/>
            <a:chOff x="0" y="0"/>
            <a:chExt cx="837209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7184" cy="38100"/>
            </a:xfrm>
            <a:custGeom>
              <a:avLst/>
              <a:gdLst/>
              <a:ahLst/>
              <a:cxnLst/>
              <a:rect r="r" b="b" t="t" l="l"/>
              <a:pathLst>
                <a:path h="38100" w="83718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8134" y="0"/>
                  </a:lnTo>
                  <a:cubicBezTo>
                    <a:pt x="828675" y="0"/>
                    <a:pt x="837184" y="8509"/>
                    <a:pt x="837184" y="19050"/>
                  </a:cubicBezTo>
                  <a:cubicBezTo>
                    <a:pt x="837184" y="29591"/>
                    <a:pt x="828675" y="38100"/>
                    <a:pt x="8181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03789" y="4070528"/>
            <a:ext cx="480422" cy="480422"/>
            <a:chOff x="0" y="0"/>
            <a:chExt cx="640563" cy="6405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520954" y="0"/>
                  </a:lnTo>
                  <a:cubicBezTo>
                    <a:pt x="586994" y="0"/>
                    <a:pt x="640588" y="53594"/>
                    <a:pt x="640588" y="119634"/>
                  </a:cubicBezTo>
                  <a:lnTo>
                    <a:pt x="640588" y="520954"/>
                  </a:lnTo>
                  <a:cubicBezTo>
                    <a:pt x="640588" y="586994"/>
                    <a:pt x="586994" y="640588"/>
                    <a:pt x="520954" y="640588"/>
                  </a:cubicBezTo>
                  <a:lnTo>
                    <a:pt x="119634" y="640588"/>
                  </a:lnTo>
                  <a:cubicBezTo>
                    <a:pt x="53594" y="640588"/>
                    <a:pt x="0" y="586994"/>
                    <a:pt x="0" y="520954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87057" y="4114505"/>
            <a:ext cx="313877" cy="392459"/>
            <a:chOff x="0" y="0"/>
            <a:chExt cx="418503" cy="5232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418503" cy="542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2586B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190559" y="4118600"/>
            <a:ext cx="710520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Phase 2 — Complete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90559" y="4513440"/>
            <a:ext cx="7105202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FastAPI backend with Dashboard API and Comparison API endpoints, Chart.js interactive visualizations, quarter-over-quarter trend analysis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309219" y="5346278"/>
            <a:ext cx="627907" cy="28575"/>
            <a:chOff x="0" y="0"/>
            <a:chExt cx="837209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7184" cy="38100"/>
            </a:xfrm>
            <a:custGeom>
              <a:avLst/>
              <a:gdLst/>
              <a:ahLst/>
              <a:cxnLst/>
              <a:rect r="r" b="b" t="t" l="l"/>
              <a:pathLst>
                <a:path h="38100" w="83718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8134" y="0"/>
                  </a:lnTo>
                  <a:cubicBezTo>
                    <a:pt x="828675" y="0"/>
                    <a:pt x="837184" y="8509"/>
                    <a:pt x="837184" y="19050"/>
                  </a:cubicBezTo>
                  <a:cubicBezTo>
                    <a:pt x="837184" y="29591"/>
                    <a:pt x="828675" y="38100"/>
                    <a:pt x="8181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903789" y="5120354"/>
            <a:ext cx="480422" cy="480422"/>
            <a:chOff x="0" y="0"/>
            <a:chExt cx="640563" cy="6405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520954" y="0"/>
                  </a:lnTo>
                  <a:cubicBezTo>
                    <a:pt x="586994" y="0"/>
                    <a:pt x="640588" y="53594"/>
                    <a:pt x="640588" y="119634"/>
                  </a:cubicBezTo>
                  <a:lnTo>
                    <a:pt x="640588" y="520954"/>
                  </a:lnTo>
                  <a:cubicBezTo>
                    <a:pt x="640588" y="586994"/>
                    <a:pt x="586994" y="640588"/>
                    <a:pt x="520954" y="640588"/>
                  </a:cubicBezTo>
                  <a:lnTo>
                    <a:pt x="119634" y="640588"/>
                  </a:lnTo>
                  <a:cubicBezTo>
                    <a:pt x="53594" y="640588"/>
                    <a:pt x="0" y="586994"/>
                    <a:pt x="0" y="520954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987057" y="5164341"/>
            <a:ext cx="313877" cy="392459"/>
            <a:chOff x="0" y="0"/>
            <a:chExt cx="418503" cy="5232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18503" cy="542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2586B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2238" y="5168427"/>
            <a:ext cx="710520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Phase 3 — Complete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238" y="5563276"/>
            <a:ext cx="7105202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LLM integration (Gemini) for AI-generated executive summaries, chart explanations, and comparative financial narratives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50873" y="6396114"/>
            <a:ext cx="627907" cy="28575"/>
            <a:chOff x="0" y="0"/>
            <a:chExt cx="837209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7184" cy="38100"/>
            </a:xfrm>
            <a:custGeom>
              <a:avLst/>
              <a:gdLst/>
              <a:ahLst/>
              <a:cxnLst/>
              <a:rect r="r" b="b" t="t" l="l"/>
              <a:pathLst>
                <a:path h="38100" w="83718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8134" y="0"/>
                  </a:lnTo>
                  <a:cubicBezTo>
                    <a:pt x="828675" y="0"/>
                    <a:pt x="837184" y="8509"/>
                    <a:pt x="837184" y="19050"/>
                  </a:cubicBezTo>
                  <a:cubicBezTo>
                    <a:pt x="837184" y="29591"/>
                    <a:pt x="828675" y="38100"/>
                    <a:pt x="81813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03789" y="6170190"/>
            <a:ext cx="480422" cy="480422"/>
            <a:chOff x="0" y="0"/>
            <a:chExt cx="640563" cy="6405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119634"/>
                  </a:moveTo>
                  <a:cubicBezTo>
                    <a:pt x="0" y="53594"/>
                    <a:pt x="53594" y="0"/>
                    <a:pt x="119634" y="0"/>
                  </a:cubicBezTo>
                  <a:lnTo>
                    <a:pt x="520954" y="0"/>
                  </a:lnTo>
                  <a:cubicBezTo>
                    <a:pt x="586994" y="0"/>
                    <a:pt x="640588" y="53594"/>
                    <a:pt x="640588" y="119634"/>
                  </a:cubicBezTo>
                  <a:lnTo>
                    <a:pt x="640588" y="520954"/>
                  </a:lnTo>
                  <a:cubicBezTo>
                    <a:pt x="640588" y="586994"/>
                    <a:pt x="586994" y="640588"/>
                    <a:pt x="520954" y="640588"/>
                  </a:cubicBezTo>
                  <a:lnTo>
                    <a:pt x="119634" y="640588"/>
                  </a:lnTo>
                  <a:cubicBezTo>
                    <a:pt x="53594" y="640588"/>
                    <a:pt x="0" y="586994"/>
                    <a:pt x="0" y="520954"/>
                  </a:cubicBezTo>
                  <a:close/>
                </a:path>
              </a:pathLst>
            </a:custGeom>
            <a:solidFill>
              <a:srgbClr val="E2E4E9"/>
            </a:solidFill>
            <a:ln w="9526" cap="sq">
              <a:solidFill>
                <a:srgbClr val="C8CAC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87057" y="6214177"/>
            <a:ext cx="313877" cy="392459"/>
            <a:chOff x="0" y="0"/>
            <a:chExt cx="418503" cy="5232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8504" cy="523280"/>
            </a:xfrm>
            <a:custGeom>
              <a:avLst/>
              <a:gdLst/>
              <a:ahLst/>
              <a:cxnLst/>
              <a:rect r="r" b="b" t="t" l="l"/>
              <a:pathLst>
                <a:path h="523280" w="418504">
                  <a:moveTo>
                    <a:pt x="0" y="0"/>
                  </a:moveTo>
                  <a:lnTo>
                    <a:pt x="418504" y="0"/>
                  </a:lnTo>
                  <a:lnTo>
                    <a:pt x="418504" y="523280"/>
                  </a:lnTo>
                  <a:lnTo>
                    <a:pt x="0" y="523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424" t="0" r="-11042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18503" cy="542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2586B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0190559" y="6218263"/>
            <a:ext cx="7105202" cy="35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Phase 4 — Planned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190559" y="6613103"/>
            <a:ext cx="7105202" cy="68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52586B"/>
                </a:solidFill>
                <a:latin typeface="Arimo"/>
                <a:ea typeface="Arimo"/>
                <a:cs typeface="Arimo"/>
                <a:sym typeface="Arimo"/>
              </a:rPr>
              <a:t>Expansion to additional NEPSE sectors, live market data integration, mobile-responsive enhancements, and investor report downloads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4088263"/>
            <a:ext cx="16303523" cy="79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5"/>
              </a:lnSpc>
            </a:pPr>
            <a:r>
              <a:rPr lang="en-US" sz="47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951313"/>
            <a:ext cx="16303523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>
                <a:solidFill>
                  <a:srgbClr val="373B48"/>
                </a:solidFill>
                <a:latin typeface="Arimo"/>
                <a:ea typeface="Arimo"/>
                <a:cs typeface="Arimo"/>
                <a:sym typeface="Arimo"/>
              </a:rPr>
              <a:t>NEPSE Financial Report Analyzer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764510"/>
            <a:ext cx="16303523" cy="28575"/>
            <a:chOff x="0" y="0"/>
            <a:chExt cx="21738031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82" cy="38100"/>
            </a:xfrm>
            <a:custGeom>
              <a:avLst/>
              <a:gdLst/>
              <a:ahLst/>
              <a:cxnLst/>
              <a:rect r="r" b="b" t="t" l="l"/>
              <a:pathLst>
                <a:path h="38100" w="2173808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19032" y="0"/>
                  </a:lnTo>
                  <a:cubicBezTo>
                    <a:pt x="21729573" y="0"/>
                    <a:pt x="21738082" y="8509"/>
                    <a:pt x="21738082" y="19050"/>
                  </a:cubicBezTo>
                  <a:cubicBezTo>
                    <a:pt x="21738082" y="29591"/>
                    <a:pt x="21729573" y="38100"/>
                    <a:pt x="217190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2586B">
                <a:alpha val="24706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DAHPoNpQ5dA</dc:identifier>
  <dcterms:modified xsi:type="dcterms:W3CDTF">2011-08-01T06:04:30Z</dcterms:modified>
  <cp:revision>1</cp:revision>
  <dc:title>NEPSE-Financial-Report-Analyzer.pptx</dc:title>
</cp:coreProperties>
</file>